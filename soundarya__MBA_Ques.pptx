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1"/>
  </p:sldMasterIdLst>
  <p:notesMasterIdLst>
    <p:notesMasterId r:id="rId7"/>
  </p:notesMasterIdLst>
  <p:sldIdLst>
    <p:sldId id="270" r:id="rId2"/>
    <p:sldId id="276" r:id="rId3"/>
    <p:sldId id="277" r:id="rId4"/>
    <p:sldId id="278" r:id="rId5"/>
    <p:sldId id="27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998595-2CFD-4E09-A039-0D0F5EA2E1C2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66482B-4728-4CEE-AA7F-9700A7242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259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6AC9-72D7-4B5D-91C8-6C7EBEA89F1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F382-9CB5-4EF6-BCE1-4590F82A1798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575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6AC9-72D7-4B5D-91C8-6C7EBEA89F1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F382-9CB5-4EF6-BCE1-4590F82A1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55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6AC9-72D7-4B5D-91C8-6C7EBEA89F1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F382-9CB5-4EF6-BCE1-4590F82A1798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966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6AC9-72D7-4B5D-91C8-6C7EBEA89F1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F382-9CB5-4EF6-BCE1-4590F82A1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504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6AC9-72D7-4B5D-91C8-6C7EBEA89F1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F382-9CB5-4EF6-BCE1-4590F82A1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786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6AC9-72D7-4B5D-91C8-6C7EBEA89F1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F382-9CB5-4EF6-BCE1-4590F82A1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79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6AC9-72D7-4B5D-91C8-6C7EBEA89F1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F382-9CB5-4EF6-BCE1-4590F82A1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559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23B6AC9-72D7-4B5D-91C8-6C7EBEA89F1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8FF382-9CB5-4EF6-BCE1-4590F82A1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341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6AC9-72D7-4B5D-91C8-6C7EBEA89F1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F382-9CB5-4EF6-BCE1-4590F82A1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036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6AC9-72D7-4B5D-91C8-6C7EBEA89F1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F382-9CB5-4EF6-BCE1-4590F82A1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036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6AC9-72D7-4B5D-91C8-6C7EBEA89F1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F382-9CB5-4EF6-BCE1-4590F82A1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645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23B6AC9-72D7-4B5D-91C8-6C7EBEA89F1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98FF382-9CB5-4EF6-BCE1-4590F82A1798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35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35D62-3653-F149-C2D9-37317007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372" y="118641"/>
            <a:ext cx="10018713" cy="175259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QUESTIONNAIRE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C87DF-7594-FFD0-A920-2E7CCE610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84" y="1871240"/>
            <a:ext cx="10926501" cy="4409953"/>
          </a:xfrm>
        </p:spPr>
        <p:txBody>
          <a:bodyPr numCol="3">
            <a:normAutofit/>
          </a:bodyPr>
          <a:lstStyle/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is your age group?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18–25 years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26–35 years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36–45 years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46–55 years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Above 55 years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is your department?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Procurement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Logistics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Inventory Management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&amp; AI Operations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Others (Please specify)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 many years of experience do you have in supply chain management?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Less than 1 year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1–3 years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4–6 years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7–10 years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More than 10 years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is your highest level of education?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Diploma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Bachelor's Degree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Master's Degree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Doctorate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Other (Please specify)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Have you received any formal training on AI applications in supply chain management?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8963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C85A54-90FA-F950-ECF6-7C871426DCB1}"/>
              </a:ext>
            </a:extLst>
          </p:cNvPr>
          <p:cNvSpPr txBox="1"/>
          <p:nvPr/>
        </p:nvSpPr>
        <p:spPr>
          <a:xfrm>
            <a:off x="601435" y="246353"/>
            <a:ext cx="8901793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(1 – Strongly Agree, 2- Agree, 3 – Neutral, 4 – Disagree, 5 – Strongly Disagree)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86E020-FFC8-1626-7736-2EEBF7E01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560205"/>
              </p:ext>
            </p:extLst>
          </p:nvPr>
        </p:nvGraphicFramePr>
        <p:xfrm>
          <a:off x="805543" y="1077686"/>
          <a:ext cx="9731827" cy="49116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8457">
                  <a:extLst>
                    <a:ext uri="{9D8B030D-6E8A-4147-A177-3AD203B41FA5}">
                      <a16:colId xmlns:a16="http://schemas.microsoft.com/office/drawing/2014/main" val="2228649896"/>
                    </a:ext>
                  </a:extLst>
                </a:gridCol>
                <a:gridCol w="5780314">
                  <a:extLst>
                    <a:ext uri="{9D8B030D-6E8A-4147-A177-3AD203B41FA5}">
                      <a16:colId xmlns:a16="http://schemas.microsoft.com/office/drawing/2014/main" val="2285429093"/>
                    </a:ext>
                  </a:extLst>
                </a:gridCol>
                <a:gridCol w="718457">
                  <a:extLst>
                    <a:ext uri="{9D8B030D-6E8A-4147-A177-3AD203B41FA5}">
                      <a16:colId xmlns:a16="http://schemas.microsoft.com/office/drawing/2014/main" val="2482012983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802507611"/>
                    </a:ext>
                  </a:extLst>
                </a:gridCol>
                <a:gridCol w="674914">
                  <a:extLst>
                    <a:ext uri="{9D8B030D-6E8A-4147-A177-3AD203B41FA5}">
                      <a16:colId xmlns:a16="http://schemas.microsoft.com/office/drawing/2014/main" val="2972923796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282313108"/>
                    </a:ext>
                  </a:extLst>
                </a:gridCol>
                <a:gridCol w="576942">
                  <a:extLst>
                    <a:ext uri="{9D8B030D-6E8A-4147-A177-3AD203B41FA5}">
                      <a16:colId xmlns:a16="http://schemas.microsoft.com/office/drawing/2014/main" val="2241503682"/>
                    </a:ext>
                  </a:extLst>
                </a:gridCol>
              </a:tblGrid>
              <a:tr h="31568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S. No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Particular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2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3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4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5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1877042193"/>
                  </a:ext>
                </a:extLst>
              </a:tr>
              <a:tr h="27223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AI-Driven Technologies in Supply Chain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596117587"/>
                  </a:ext>
                </a:extLst>
              </a:tr>
              <a:tr h="84739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6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AI-driven technologies are widely implemented in the supply chain operations of Robert Bosch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411253567"/>
                  </a:ext>
                </a:extLst>
              </a:tr>
              <a:tr h="84739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7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Predictive analytics has improved decision-making in supply chain management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2108810970"/>
                  </a:ext>
                </a:extLst>
              </a:tr>
              <a:tr h="70360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8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Automation has reduced manual workload and increased operational efficiency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2480110233"/>
                  </a:ext>
                </a:extLst>
              </a:tr>
              <a:tr h="84739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9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AI-based demand forecasting has helped in optimizing procurement processes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2055859851"/>
                  </a:ext>
                </a:extLst>
              </a:tr>
              <a:tr h="107791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10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 integration of AI in supply chain operations has enhanced overall productivity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147635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5274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96B5D7-7DD3-D589-37CB-D950ABAB0B87}"/>
              </a:ext>
            </a:extLst>
          </p:cNvPr>
          <p:cNvSpPr txBox="1"/>
          <p:nvPr/>
        </p:nvSpPr>
        <p:spPr>
          <a:xfrm>
            <a:off x="601435" y="257239"/>
            <a:ext cx="8901793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(1 – Strongly Agree, 2- Agree, 3 – Neutral, 4 – Disagree, 5 – Strongly Disagree)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99B186-DB23-1558-8159-605FB57D551E}"/>
              </a:ext>
            </a:extLst>
          </p:cNvPr>
          <p:cNvGraphicFramePr>
            <a:graphicFrameLocks noGrp="1"/>
          </p:cNvGraphicFramePr>
          <p:nvPr/>
        </p:nvGraphicFramePr>
        <p:xfrm>
          <a:off x="805543" y="1077686"/>
          <a:ext cx="9731827" cy="49116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8457">
                  <a:extLst>
                    <a:ext uri="{9D8B030D-6E8A-4147-A177-3AD203B41FA5}">
                      <a16:colId xmlns:a16="http://schemas.microsoft.com/office/drawing/2014/main" val="2228649896"/>
                    </a:ext>
                  </a:extLst>
                </a:gridCol>
                <a:gridCol w="5780314">
                  <a:extLst>
                    <a:ext uri="{9D8B030D-6E8A-4147-A177-3AD203B41FA5}">
                      <a16:colId xmlns:a16="http://schemas.microsoft.com/office/drawing/2014/main" val="2285429093"/>
                    </a:ext>
                  </a:extLst>
                </a:gridCol>
                <a:gridCol w="718457">
                  <a:extLst>
                    <a:ext uri="{9D8B030D-6E8A-4147-A177-3AD203B41FA5}">
                      <a16:colId xmlns:a16="http://schemas.microsoft.com/office/drawing/2014/main" val="2482012983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802507611"/>
                    </a:ext>
                  </a:extLst>
                </a:gridCol>
                <a:gridCol w="674914">
                  <a:extLst>
                    <a:ext uri="{9D8B030D-6E8A-4147-A177-3AD203B41FA5}">
                      <a16:colId xmlns:a16="http://schemas.microsoft.com/office/drawing/2014/main" val="2972923796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282313108"/>
                    </a:ext>
                  </a:extLst>
                </a:gridCol>
                <a:gridCol w="576942">
                  <a:extLst>
                    <a:ext uri="{9D8B030D-6E8A-4147-A177-3AD203B41FA5}">
                      <a16:colId xmlns:a16="http://schemas.microsoft.com/office/drawing/2014/main" val="2241503682"/>
                    </a:ext>
                  </a:extLst>
                </a:gridCol>
              </a:tblGrid>
              <a:tr h="31568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S. No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Particular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2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3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4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5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1877042193"/>
                  </a:ext>
                </a:extLst>
              </a:tr>
              <a:tr h="27223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Role of AI in Inventory Management and Demand Forecasting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596117587"/>
                  </a:ext>
                </a:extLst>
              </a:tr>
              <a:tr h="84739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AI-powered inventory tracking has improved stock availability and reduced shortages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411253567"/>
                  </a:ext>
                </a:extLst>
              </a:tr>
              <a:tr h="84739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Automated demand forecasting has minimized overstocking and understocking issues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2108810970"/>
                  </a:ext>
                </a:extLst>
              </a:tr>
              <a:tr h="70360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AI-driven insights help in making accurate inventory replenishment decisions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2480110233"/>
                  </a:ext>
                </a:extLst>
              </a:tr>
              <a:tr h="84739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AI-based supply chain monitoring has reduced disruptions in stock movement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2055859851"/>
                  </a:ext>
                </a:extLst>
              </a:tr>
              <a:tr h="107791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 use of AI in inventory management has led to better cost control and resource utilization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147635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020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D13F1A-576F-FCF3-AFBA-0B8E79723177}"/>
              </a:ext>
            </a:extLst>
          </p:cNvPr>
          <p:cNvSpPr txBox="1"/>
          <p:nvPr/>
        </p:nvSpPr>
        <p:spPr>
          <a:xfrm>
            <a:off x="601435" y="246353"/>
            <a:ext cx="8901793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(1 – Strongly Agree, 2- Agree, 3 – Neutral, 4 – Disagree, 5 – Strongly Disagree)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634A79-A468-AAE1-4B54-E61D46D580A4}"/>
              </a:ext>
            </a:extLst>
          </p:cNvPr>
          <p:cNvGraphicFramePr>
            <a:graphicFrameLocks noGrp="1"/>
          </p:cNvGraphicFramePr>
          <p:nvPr/>
        </p:nvGraphicFramePr>
        <p:xfrm>
          <a:off x="805543" y="1077686"/>
          <a:ext cx="9731827" cy="49116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8457">
                  <a:extLst>
                    <a:ext uri="{9D8B030D-6E8A-4147-A177-3AD203B41FA5}">
                      <a16:colId xmlns:a16="http://schemas.microsoft.com/office/drawing/2014/main" val="2228649896"/>
                    </a:ext>
                  </a:extLst>
                </a:gridCol>
                <a:gridCol w="5780314">
                  <a:extLst>
                    <a:ext uri="{9D8B030D-6E8A-4147-A177-3AD203B41FA5}">
                      <a16:colId xmlns:a16="http://schemas.microsoft.com/office/drawing/2014/main" val="2285429093"/>
                    </a:ext>
                  </a:extLst>
                </a:gridCol>
                <a:gridCol w="718457">
                  <a:extLst>
                    <a:ext uri="{9D8B030D-6E8A-4147-A177-3AD203B41FA5}">
                      <a16:colId xmlns:a16="http://schemas.microsoft.com/office/drawing/2014/main" val="2482012983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802507611"/>
                    </a:ext>
                  </a:extLst>
                </a:gridCol>
                <a:gridCol w="674914">
                  <a:extLst>
                    <a:ext uri="{9D8B030D-6E8A-4147-A177-3AD203B41FA5}">
                      <a16:colId xmlns:a16="http://schemas.microsoft.com/office/drawing/2014/main" val="2972923796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282313108"/>
                    </a:ext>
                  </a:extLst>
                </a:gridCol>
                <a:gridCol w="576942">
                  <a:extLst>
                    <a:ext uri="{9D8B030D-6E8A-4147-A177-3AD203B41FA5}">
                      <a16:colId xmlns:a16="http://schemas.microsoft.com/office/drawing/2014/main" val="2241503682"/>
                    </a:ext>
                  </a:extLst>
                </a:gridCol>
              </a:tblGrid>
              <a:tr h="31568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S. No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Particular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2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3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4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5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1877042193"/>
                  </a:ext>
                </a:extLst>
              </a:tr>
              <a:tr h="27223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AI’s Impact on Reducing Costs and Lead Times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596117587"/>
                  </a:ext>
                </a:extLst>
              </a:tr>
              <a:tr h="84739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AI-driven logistics management has reduced transportation costs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411253567"/>
                  </a:ext>
                </a:extLst>
              </a:tr>
              <a:tr h="84739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AI-based route optimization has minimized delivery lead times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2108810970"/>
                  </a:ext>
                </a:extLst>
              </a:tr>
              <a:tr h="70360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Automated warehouse operations have significantly cut labor and handling costs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2480110233"/>
                  </a:ext>
                </a:extLst>
              </a:tr>
              <a:tr h="84739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AI-powered supplier selection and evaluation have improved procurement cost efficiency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2055859851"/>
                  </a:ext>
                </a:extLst>
              </a:tr>
              <a:tr h="107791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 use of AI in supply chain operations has reduced delays and enhanced process efficiency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147635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990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89D325-EDAA-7998-00E0-9F7A6D339551}"/>
              </a:ext>
            </a:extLst>
          </p:cNvPr>
          <p:cNvSpPr txBox="1"/>
          <p:nvPr/>
        </p:nvSpPr>
        <p:spPr>
          <a:xfrm>
            <a:off x="601435" y="268125"/>
            <a:ext cx="8901793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(1 – Strongly Agree, 2- Agree, 3 – Neutral, 4 – Disagree, 5 – Strongly Disagree)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D73D02C-471C-18D8-329A-D80CDDCB8F30}"/>
              </a:ext>
            </a:extLst>
          </p:cNvPr>
          <p:cNvGraphicFramePr>
            <a:graphicFrameLocks noGrp="1"/>
          </p:cNvGraphicFramePr>
          <p:nvPr/>
        </p:nvGraphicFramePr>
        <p:xfrm>
          <a:off x="805543" y="1077686"/>
          <a:ext cx="9731827" cy="49116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8457">
                  <a:extLst>
                    <a:ext uri="{9D8B030D-6E8A-4147-A177-3AD203B41FA5}">
                      <a16:colId xmlns:a16="http://schemas.microsoft.com/office/drawing/2014/main" val="2228649896"/>
                    </a:ext>
                  </a:extLst>
                </a:gridCol>
                <a:gridCol w="5780314">
                  <a:extLst>
                    <a:ext uri="{9D8B030D-6E8A-4147-A177-3AD203B41FA5}">
                      <a16:colId xmlns:a16="http://schemas.microsoft.com/office/drawing/2014/main" val="2285429093"/>
                    </a:ext>
                  </a:extLst>
                </a:gridCol>
                <a:gridCol w="718457">
                  <a:extLst>
                    <a:ext uri="{9D8B030D-6E8A-4147-A177-3AD203B41FA5}">
                      <a16:colId xmlns:a16="http://schemas.microsoft.com/office/drawing/2014/main" val="2482012983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802507611"/>
                    </a:ext>
                  </a:extLst>
                </a:gridCol>
                <a:gridCol w="674914">
                  <a:extLst>
                    <a:ext uri="{9D8B030D-6E8A-4147-A177-3AD203B41FA5}">
                      <a16:colId xmlns:a16="http://schemas.microsoft.com/office/drawing/2014/main" val="2972923796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282313108"/>
                    </a:ext>
                  </a:extLst>
                </a:gridCol>
                <a:gridCol w="576942">
                  <a:extLst>
                    <a:ext uri="{9D8B030D-6E8A-4147-A177-3AD203B41FA5}">
                      <a16:colId xmlns:a16="http://schemas.microsoft.com/office/drawing/2014/main" val="2241503682"/>
                    </a:ext>
                  </a:extLst>
                </a:gridCol>
              </a:tblGrid>
              <a:tr h="31568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S. No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Particular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2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3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4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5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1877042193"/>
                  </a:ext>
                </a:extLst>
              </a:tr>
              <a:tr h="27223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Challenges of AI Adoption in Supply Chain Operations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596117587"/>
                  </a:ext>
                </a:extLst>
              </a:tr>
              <a:tr h="84739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 high implementation cost of AI solutions is a barrier to adoption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411253567"/>
                  </a:ext>
                </a:extLst>
              </a:tr>
              <a:tr h="84739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Employees face difficulties in adapting to AI-driven processes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2108810970"/>
                  </a:ext>
                </a:extLst>
              </a:tr>
              <a:tr h="70360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 integration in supply chain operations requires extensive training and skill development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2480110233"/>
                  </a:ext>
                </a:extLst>
              </a:tr>
              <a:tr h="84739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 privacy and security concerns limit the use of AI in supply chain management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2055859851"/>
                  </a:ext>
                </a:extLst>
              </a:tr>
              <a:tr h="107791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Resistance to technological change affects the successful adoption of AI in supply chain operations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086" marR="30086" marT="0" marB="0"/>
                </a:tc>
                <a:extLst>
                  <a:ext uri="{0D108BD9-81ED-4DB2-BD59-A6C34878D82A}">
                    <a16:rowId xmlns:a16="http://schemas.microsoft.com/office/drawing/2014/main" val="147635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58605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193</TotalTime>
  <Words>612</Words>
  <Application>Microsoft Office PowerPoint</Application>
  <PresentationFormat>Widescreen</PresentationFormat>
  <Paragraphs>228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Calibri Light</vt:lpstr>
      <vt:lpstr>Courier New</vt:lpstr>
      <vt:lpstr>Times New Roman</vt:lpstr>
      <vt:lpstr>Retrospect</vt:lpstr>
      <vt:lpstr>QUESTIONNAIRE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Ganesh Kumar</dc:creator>
  <cp:lastModifiedBy>s8a18</cp:lastModifiedBy>
  <cp:revision>18</cp:revision>
  <dcterms:created xsi:type="dcterms:W3CDTF">2025-03-04T10:04:06Z</dcterms:created>
  <dcterms:modified xsi:type="dcterms:W3CDTF">2025-11-08T16:22:23Z</dcterms:modified>
</cp:coreProperties>
</file>